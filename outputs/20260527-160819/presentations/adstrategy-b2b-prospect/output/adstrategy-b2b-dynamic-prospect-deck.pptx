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0f4f04f584b9f" /><Relationship Type="http://schemas.openxmlformats.org/officeDocument/2006/relationships/extended-properties" Target="/docProps/app.xml" Id="R45e7328d24e049a4" /><Relationship Type="http://schemas.openxmlformats.org/officeDocument/2006/relationships/officeDocument" Target="/ppt/presentation.xml" Id="R88d902473be1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86ec6f003142ce"/>
  </p:sldMasterIdLst>
  <p:notesMasterIdLst>
    <p:notesMasterId xmlns:r="http://schemas.openxmlformats.org/officeDocument/2006/relationships" r:id="R88606defbd55457a"/>
  </p:notesMasterIdLst>
  <p:sldIdLst>
    <p:sldId xmlns:r="http://schemas.openxmlformats.org/officeDocument/2006/relationships" id="256" r:id="Rbe447cd04f92446e"/>
    <p:sldId xmlns:r="http://schemas.openxmlformats.org/officeDocument/2006/relationships" id="257" r:id="Rcc92484b79874f53"/>
    <p:sldId xmlns:r="http://schemas.openxmlformats.org/officeDocument/2006/relationships" id="258" r:id="Rb524b8c26f4e4623"/>
    <p:sldId xmlns:r="http://schemas.openxmlformats.org/officeDocument/2006/relationships" id="259" r:id="Rb731b0d784754f74"/>
    <p:sldId xmlns:r="http://schemas.openxmlformats.org/officeDocument/2006/relationships" id="260" r:id="Rfc857afaf8cb4a31"/>
    <p:sldId xmlns:r="http://schemas.openxmlformats.org/officeDocument/2006/relationships" id="261" r:id="Rf207731f3fc04edf"/>
    <p:sldId xmlns:r="http://schemas.openxmlformats.org/officeDocument/2006/relationships" id="262" r:id="Rccd8b345d13d4afb"/>
    <p:sldId xmlns:r="http://schemas.openxmlformats.org/officeDocument/2006/relationships" id="263" r:id="Ref717f4920104917"/>
    <p:sldId xmlns:r="http://schemas.openxmlformats.org/officeDocument/2006/relationships" id="264" r:id="R5c3a77cd17ef4e67"/>
    <p:sldId xmlns:r="http://schemas.openxmlformats.org/officeDocument/2006/relationships" id="265" r:id="Rf53c591edf9e46d4"/>
    <p:sldId xmlns:r="http://schemas.openxmlformats.org/officeDocument/2006/relationships" id="266" r:id="R115a251814084e08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6ec6f003142ce" /><Relationship Type="http://schemas.openxmlformats.org/officeDocument/2006/relationships/theme" Target="/ppt/theme/theme1.xml" Id="Rfdd6bc2e253341c6" /><Relationship Type="http://schemas.openxmlformats.org/officeDocument/2006/relationships/notesMaster" Target="/ppt/notesMasters/notesMaster1.xml" Id="R88606defbd55457a" /><Relationship Type="http://schemas.openxmlformats.org/officeDocument/2006/relationships/presProps" Target="/ppt/presProps.xml" Id="R86f01501ef604001" /><Relationship Type="http://schemas.openxmlformats.org/officeDocument/2006/relationships/viewProps" Target="/ppt/viewProps.xml" Id="R26fdd16fed284d54" /><Relationship Type="http://schemas.openxmlformats.org/officeDocument/2006/relationships/tableStyles" Target="/ppt/tableStyles.xml" Id="R73a7195043e94d37" /><Relationship Type="http://schemas.openxmlformats.org/officeDocument/2006/relationships/slide" Target="/ppt/slides/slide1.xml" Id="Rbe447cd04f92446e" /><Relationship Type="http://schemas.openxmlformats.org/officeDocument/2006/relationships/slide" Target="/ppt/slides/slide2.xml" Id="Rcc92484b79874f53" /><Relationship Type="http://schemas.openxmlformats.org/officeDocument/2006/relationships/slide" Target="/ppt/slides/slide3.xml" Id="Rb524b8c26f4e4623" /><Relationship Type="http://schemas.openxmlformats.org/officeDocument/2006/relationships/slide" Target="/ppt/slides/slide4.xml" Id="Rb731b0d784754f74" /><Relationship Type="http://schemas.openxmlformats.org/officeDocument/2006/relationships/slide" Target="/ppt/slides/slide5.xml" Id="Rfc857afaf8cb4a31" /><Relationship Type="http://schemas.openxmlformats.org/officeDocument/2006/relationships/slide" Target="/ppt/slides/slide6.xml" Id="Rf207731f3fc04edf" /><Relationship Type="http://schemas.openxmlformats.org/officeDocument/2006/relationships/slide" Target="/ppt/slides/slide7.xml" Id="Rccd8b345d13d4afb" /><Relationship Type="http://schemas.openxmlformats.org/officeDocument/2006/relationships/slide" Target="/ppt/slides/slide8.xml" Id="Ref717f4920104917" /><Relationship Type="http://schemas.openxmlformats.org/officeDocument/2006/relationships/slide" Target="/ppt/slides/slide9.xml" Id="R5c3a77cd17ef4e67" /><Relationship Type="http://schemas.openxmlformats.org/officeDocument/2006/relationships/slide" Target="/ppt/slides/slide10.xml" Id="Rf53c591edf9e46d4" /><Relationship Type="http://schemas.openxmlformats.org/officeDocument/2006/relationships/slide" Target="/ppt/slides/slide11.xml" Id="R115a25181408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fac935e569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b084b481f4b62" /><Relationship Type="http://schemas.openxmlformats.org/officeDocument/2006/relationships/notesMaster" Target="/ppt/notesMasters/notesMaster1.xml" Id="R96057c3b58d740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c025f02e194b8b" /><Relationship Type="http://schemas.openxmlformats.org/officeDocument/2006/relationships/notesMaster" Target="/ppt/notesMasters/notesMaster1.xml" Id="R4a01d936ff354e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fe65db1d55423e" /><Relationship Type="http://schemas.openxmlformats.org/officeDocument/2006/relationships/notesMaster" Target="/ppt/notesMasters/notesMaster1.xml" Id="R8c253cebac8747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549061e9f42a9" /><Relationship Type="http://schemas.openxmlformats.org/officeDocument/2006/relationships/notesMaster" Target="/ppt/notesMasters/notesMaster1.xml" Id="R4313cf503bf94e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8d86784e0a466b" /><Relationship Type="http://schemas.openxmlformats.org/officeDocument/2006/relationships/notesMaster" Target="/ppt/notesMasters/notesMaster1.xml" Id="R0c915332891944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029ae5c554c83" /><Relationship Type="http://schemas.openxmlformats.org/officeDocument/2006/relationships/notesMaster" Target="/ppt/notesMasters/notesMaster1.xml" Id="R643066e2a63745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35371248af40d8" /><Relationship Type="http://schemas.openxmlformats.org/officeDocument/2006/relationships/notesMaster" Target="/ppt/notesMasters/notesMaster1.xml" Id="R24051ddc9ac54a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2f004e6a5e4197" /><Relationship Type="http://schemas.openxmlformats.org/officeDocument/2006/relationships/notesMaster" Target="/ppt/notesMasters/notesMaster1.xml" Id="R363030a92c9a49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74c31023204d02" /><Relationship Type="http://schemas.openxmlformats.org/officeDocument/2006/relationships/notesMaster" Target="/ppt/notesMasters/notesMaster1.xml" Id="Rd887c868b4394b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1ce430381419b" /><Relationship Type="http://schemas.openxmlformats.org/officeDocument/2006/relationships/notesMaster" Target="/ppt/notesMasters/notesMaster1.xml" Id="R2809e441d775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f54b6a77e64d09" /><Relationship Type="http://schemas.openxmlformats.org/officeDocument/2006/relationships/notesMaster" Target="/ppt/notesMasters/notesMaster1.xml" Id="Rc96af5737f35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49f53622a42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714cf05fcd4490" /><Relationship Type="http://schemas.openxmlformats.org/officeDocument/2006/relationships/slideLayout" Target="/ppt/slideLayouts/slideLayout2.xml" Id="Rf05886a2d46d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886a2d46d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ca0bf9f7514d29" /><Relationship Type="http://schemas.openxmlformats.org/officeDocument/2006/relationships/notesSlide" Target="/ppt/notesSlides/notesSlide1.xml" Id="R5c015a4f1fce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3e26f96e74421b" /><Relationship Type="http://schemas.openxmlformats.org/officeDocument/2006/relationships/image" Target="/ppt/media/image.png" Id="R9640b16c593c4693" /><Relationship Type="http://schemas.openxmlformats.org/officeDocument/2006/relationships/image" Target="/ppt/media/image.svg" Id="Rff6dd2a38f65470f" /><Relationship Type="http://schemas.openxmlformats.org/officeDocument/2006/relationships/image" Target="/ppt/media/image2.png" Id="R7e99f74e6d3f4a77" /><Relationship Type="http://schemas.openxmlformats.org/officeDocument/2006/relationships/image" Target="/ppt/media/image2.svg" Id="Reaca7baab46e4c1e" /><Relationship Type="http://schemas.openxmlformats.org/officeDocument/2006/relationships/image" Target="/ppt/media/image3.png" Id="R2dcb52dc57444bdb" /><Relationship Type="http://schemas.openxmlformats.org/officeDocument/2006/relationships/image" Target="/ppt/media/image3.svg" Id="R8bffda6fcd4e4153" /><Relationship Type="http://schemas.openxmlformats.org/officeDocument/2006/relationships/image" Target="/ppt/media/image4.png" Id="Rf38c6c7b708d4d2c" /><Relationship Type="http://schemas.openxmlformats.org/officeDocument/2006/relationships/image" Target="/ppt/media/image4.svg" Id="Rf2cbafe2750d45f1" /><Relationship Type="http://schemas.openxmlformats.org/officeDocument/2006/relationships/notesSlide" Target="/ppt/notesSlides/notesSlide2.xml" Id="Re60434889d60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1ba0060ee42ac" /><Relationship Type="http://schemas.openxmlformats.org/officeDocument/2006/relationships/notesSlide" Target="/ppt/notesSlides/notesSlide3.xml" Id="R5ee4b7fc6ca9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27100df9474240" /><Relationship Type="http://schemas.openxmlformats.org/officeDocument/2006/relationships/notesSlide" Target="/ppt/notesSlides/notesSlide4.xml" Id="R7eaf67ad513f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43606d02b463f" /><Relationship Type="http://schemas.openxmlformats.org/officeDocument/2006/relationships/notesSlide" Target="/ppt/notesSlides/notesSlide5.xml" Id="R2bb2cf5ec22145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a8022227ad44de" /><Relationship Type="http://schemas.openxmlformats.org/officeDocument/2006/relationships/notesSlide" Target="/ppt/notesSlides/notesSlide6.xml" Id="Rdeee7e209fa341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1cf472cac541bc" /><Relationship Type="http://schemas.openxmlformats.org/officeDocument/2006/relationships/notesSlide" Target="/ppt/notesSlides/notesSlide7.xml" Id="Rb5a90694127f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8fbfdc3f6468b" /><Relationship Type="http://schemas.openxmlformats.org/officeDocument/2006/relationships/image" Target="/ppt/media/image5.png" Id="Rfe4b485c92b3414a" /><Relationship Type="http://schemas.openxmlformats.org/officeDocument/2006/relationships/image" Target="/ppt/media/image5.svg" Id="R1c585673b8a54d4e" /><Relationship Type="http://schemas.openxmlformats.org/officeDocument/2006/relationships/image" Target="/ppt/media/image6.png" Id="R7556866008224982" /><Relationship Type="http://schemas.openxmlformats.org/officeDocument/2006/relationships/image" Target="/ppt/media/image6.svg" Id="Reda372d10b0b4414" /><Relationship Type="http://schemas.openxmlformats.org/officeDocument/2006/relationships/image" Target="/ppt/media/image7.png" Id="R63d4b4cebf9842f0" /><Relationship Type="http://schemas.openxmlformats.org/officeDocument/2006/relationships/image" Target="/ppt/media/image7.svg" Id="Rc77b4c14e91647cc" /><Relationship Type="http://schemas.openxmlformats.org/officeDocument/2006/relationships/image" Target="/ppt/media/image8.png" Id="Rafb72c613f61428d" /><Relationship Type="http://schemas.openxmlformats.org/officeDocument/2006/relationships/image" Target="/ppt/media/image8.svg" Id="R3c176b69035b4bfa" /><Relationship Type="http://schemas.openxmlformats.org/officeDocument/2006/relationships/image" Target="/ppt/media/image9.png" Id="Rbc083be8b0194ea3" /><Relationship Type="http://schemas.openxmlformats.org/officeDocument/2006/relationships/image" Target="/ppt/media/image9.svg" Id="Red50240d80054165" /><Relationship Type="http://schemas.openxmlformats.org/officeDocument/2006/relationships/image" Target="/ppt/media/image10.png" Id="Ra63b54a8789e4d6c" /><Relationship Type="http://schemas.openxmlformats.org/officeDocument/2006/relationships/image" Target="/ppt/media/image10.svg" Id="R369e52a721ab4813" /><Relationship Type="http://schemas.openxmlformats.org/officeDocument/2006/relationships/image" Target="/ppt/media/image11.png" Id="Reb1b292de1e24710" /><Relationship Type="http://schemas.openxmlformats.org/officeDocument/2006/relationships/image" Target="/ppt/media/image11.svg" Id="R317cb62f9c974129" /><Relationship Type="http://schemas.openxmlformats.org/officeDocument/2006/relationships/notesSlide" Target="/ppt/notesSlides/notesSlide8.xml" Id="R6e1a4e39ea294a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a0e4dbbfc4171" /><Relationship Type="http://schemas.openxmlformats.org/officeDocument/2006/relationships/notesSlide" Target="/ppt/notesSlides/notesSlide9.xml" Id="R73c5e2d379db4e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8fc514036741b9" /><Relationship Type="http://schemas.openxmlformats.org/officeDocument/2006/relationships/notesSlide" Target="/ppt/notesSlides/notesSlide10.xml" Id="R051cf9734d874c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5566fc0c44bc9" /><Relationship Type="http://schemas.openxmlformats.org/officeDocument/2006/relationships/notesSlide" Target="/ppt/notesSlides/notesSlide11.xml" Id="R82d81be2c6b14d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93DBF-0A2E-4926-B61E-18BC2711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58DFF-34D9-411C-BF46-A8BBCE54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9168F-6C63-4C99-8FA3-94A65E7C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B4F0E-F1EA-4EE4-8642-FAED362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FE55E-3840-4DBA-B4A2-F436FED7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11B67-BD05-4B03-834E-A4C57D4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F4AA2-5C8F-4CDF-B012-71CCB5A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A8BD0-503A-49E1-B6F3-70E2DE9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FC3C9-4C07-4833-A342-A4C32276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CD191-2230-4AF4-B74E-153954D6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7109D-0D2A-4031-AF2F-392972E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ADSTRATEGY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7C4B3-C9CE-422A-B89C-0B420FB7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B2B lead generation built to scale across markets.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92AB6-4E37-4B29-BF2C-480B6B2B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609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 more assertive first-call narrative for a performance marketing agency that sells qualified pipeline, operational rigor and cross-country execution.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61751-3228-4813-B08B-BB5CD80E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4D"/>
          </a:solidFill>
          <a:ln xmlns:a="http://schemas.openxmlformats.org/drawingml/2006/main" w="9525">
            <a:solidFill>
              <a:srgbClr val="3456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A270A-0AE7-41CB-9BF5-8D9A2DD3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Exclusive leads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17DC4-9639-427A-A9A1-9BE92A3E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14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4D"/>
          </a:solidFill>
          <a:ln xmlns:a="http://schemas.openxmlformats.org/drawingml/2006/main" w="9525">
            <a:solidFill>
              <a:srgbClr val="3456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DCB61-1255-4274-B6DB-E56C1A5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910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Custom campaigns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87FBE-090E-4C63-B3F6-C4E82CF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148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4D"/>
          </a:solidFill>
          <a:ln xmlns:a="http://schemas.openxmlformats.org/drawingml/2006/main" w="9525">
            <a:solidFill>
              <a:srgbClr val="3456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4FF91-3AE9-4C2C-A4D0-F1918719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CRM-ready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A2B3B-F794-4AFC-A282-DCE022E0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54292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3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6501B-FC23-4300-87AB-D475D9BE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0B32F-732E-4154-91DE-D6A9258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F25B2-DC81-4761-BC9E-23B4C1C0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32277-18CA-4788-89E7-0F0E497B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624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DA43C-4CC3-47C2-B4F0-C5A81BC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578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14DB0-2F40-4E78-A063-E23DAAC0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764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331E0-E266-4C31-8582-AF030A84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CDC38-51AE-46E1-B25A-A775863A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40ADE-0A3B-467C-AD09-D0BE8B0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624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A3E02-8EA2-4A43-8CE4-AAB5B67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578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34659-4DB9-483F-A60A-717AAE6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6764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5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C6007-EA65-4474-B8A7-1153534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5717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AA9109-8EFA-4AB0-8B62-EC565AC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4671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94FDCD-42B4-4721-B32E-397FF4D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3624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748EFE-2F50-484D-9ACF-8FC9C62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2578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8E4D78-B6FD-4DFF-AED5-220E010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6764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5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68B092-D011-4C95-A042-BECF85A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5717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918469-F439-4145-8A14-26DE084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4671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6F94DB-AE9B-40CE-B389-E11F44E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3624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19050">
            <a:solidFill>
              <a:srgbClr val="D6FF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FFFF86-A889-4864-802D-9C92050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2578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5F9EF3-9A86-4023-BE31-FF098E9B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14EBC7-162B-4300-8CD4-92A8489A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+73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8D4EF4-9885-4606-907B-57068D98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active countries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04E000-EEBE-485E-A290-4FDB927B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0975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038001-3E5D-48C4-929D-0C96BE8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9812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70K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ADAB32-F2A4-4487-B00B-C7202FA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765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monthly hot leads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D23BB8-32E1-47E6-AFD4-32799C2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62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C55539-0F8D-4130-BE06-7D853137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870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39E1F7-1C23-4F4E-B226-F08EAB5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290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monthly campaigns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2E2870-6B38-44CD-B667-BA6AAF22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6230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10280F-A1EF-4882-8835-DF78908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3375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2014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DD197F-B52F-4C3F-A347-A9CB1051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290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agency track record starts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63755E-DDEE-4EF6-B115-B01286B5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Performance model: clients pay for validated outcomes, not for setup noise.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11A210-8387-44A0-948F-CBFAA43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24500"/>
            <a:ext cx="4629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Source deck facts reused and reframed for credibility: CPL model, no setup fee, duplicate and unqualified leads retained by the agency, and delivery built around custom lead flows.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A0E503-AB8B-46E9-8610-584338F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4700C0-1452-46E0-94CC-21AB205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5983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13052-4E0C-42B8-B946-7CAB4E70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AC392-B618-45B6-AAD4-DC4A99C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73460-3855-4373-8B83-9B3774F1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926B-75A8-469B-9B58-A5255775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1727B-08A3-4D17-9A6F-FC581CB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46FB6-511B-4A6A-97F7-BF972DF2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206CE-0832-47CC-9355-C48DBBD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711D1-BFF8-46A5-B13D-C941279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62654-08AF-4A2C-B53D-F73F5B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B31EE-690B-4F15-8BD1-B68A7E91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D00CD-8027-424D-8C9B-07DD66E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687AF-7C5B-4598-8B2E-54F6B35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Prospects need to believe the machine behind the leads is reliable.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6ED03-6F24-4FEE-BE0F-621F738B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The original deck says Adstrategy is a digital performance agency focused on increasing partner sales through qualified lead generation. This version turns that into a sharper commercial message.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A37EE-623F-4B5C-B701-B0ED184F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CE03D-FCFD-437C-9CF4-F40CE339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Digital acquisition campaigns designed to capture in-market demand.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269A6-8304-451A-AFC5-48012BCD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35ABA-DFA4-465D-A929-8E845DBA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Personalized campaign and landing page setup for each client 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47133-FC11-4B25-A2ED-5E2D5349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E4732-A11C-4232-BE0C-EF6E6C5E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No setup fee model in the source proposal: payment is tied to generated results.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4466E-5F8F-4CC5-96E9-72AF477C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54616-9FFC-48D0-AD1A-13AD48B6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Duplicate and unqualified leads are retained by Adstrategy rather than charged to the client.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03AA7-7A7D-452A-8BE6-5A2FFDAB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56197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8">
              <a:alpha val="90196"/>
            </a:srgbClr>
          </a:solidFill>
          <a:ln xmlns:a="http://schemas.openxmlformats.org/drawingml/2006/main" w="9525">
            <a:solidFill>
              <a:srgbClr val="2B43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C9D59-49D2-46B4-9252-6AA1C75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Commercial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129E5-0FAD-40E5-B0CB-EFF34CEE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4667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You are not buying media management in the abstract. You are buying a validated route from click to qualified conversation.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C6311-B0C6-4F9F-BCE0-B923F9C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386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0b16c593c4693">
            <a:extLst>
              <a:ext uri="{96DAC541-7B7A-43D3-8B79-37D633B846F1}">
                <asvg:svgBlip xmlns:asvg="http://schemas.microsoft.com/office/drawing/2016/SVG/main" r:embed="Rff6dd2a38f6547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86800" y="42100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1A9A0-7D76-4C91-AEA4-9B86C2D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Exclusive demand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934BE-0CA6-4ED3-927E-8119FF3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39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Lead sharing is explicitly avoided. Each campaign is segmented per client.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CC2D2-5DA4-47AE-8AC1-A55EA4FE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386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9f74e6d3f4a77">
            <a:extLst>
              <a:ext uri="{96DAC541-7B7A-43D3-8B79-37D633B846F1}">
                <asvg:svgBlip xmlns:asvg="http://schemas.microsoft.com/office/drawing/2016/SVG/main" r:embed="Reaca7baab46e4c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58550" y="42100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8A099-9C06-422F-8988-AF8595AE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Quality protection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659B7-C05D-4390-A6BC-EFFA9EF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339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Validation filters sit between gross volume and what gets paid.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65AA10-4965-4F7B-A67D-5DD0C7C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197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b52dc57444bdb">
            <a:extLst>
              <a:ext uri="{96DAC541-7B7A-43D3-8B79-37D633B846F1}">
                <asvg:svgBlip xmlns:asvg="http://schemas.microsoft.com/office/drawing/2016/SVG/main" r:embed="R8bffda6fcd4e41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86800" y="5391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60293-6488-4F79-9A0C-7073DD3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530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Built for CRM handoff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25B44-BF80-43ED-9A9E-552AC87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150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Lead export and integration are part of the delivery model.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B4E7C7-74C8-4912-97E2-05B6EE95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2197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c6c7b708d4d2c">
            <a:extLst>
              <a:ext uri="{96DAC541-7B7A-43D3-8B79-37D633B846F1}">
                <asvg:svgBlip xmlns:asvg="http://schemas.microsoft.com/office/drawing/2016/SVG/main" r:embed="Rf2cbafe2750d45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58550" y="5391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957BBF-B746-4E05-93D8-075890AB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530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Operational accountability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1F9C8-94ED-4257-ADF5-0CF51D51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7150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Performance reports and campaign manager optimization are included.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AA4CA7-4080-4902-9B2E-A0D34CF9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BA582-4248-4220-B01C-82F9F6C4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2586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3F1095-F645-4164-ACB1-0CD4B4E1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1D808-D58C-4ECB-B7A9-DD904118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31B8F-D5A8-4FA6-A31E-A510CF3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02231-03A8-4805-B315-B55C6B3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00C10-B2FA-41CB-B58C-9133B5B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3A44A-55E0-4A65-ABBC-CFDA6597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0303E-562A-4973-BF4F-0F3A00ED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49D41-9E6C-40E6-B44C-7195F24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0F122-E460-4B94-A0DD-FB9D32D1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8C1BE-E623-41BF-AA53-EDC97D44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CE0CD-EF67-4F8C-8E5A-1E27ABC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OPERATING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F2AF1-D463-40D0-8120-FCC059A2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Scale is a credibility shortcut when prospects are deciding whether you can execute.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4131F-ED84-4C4F-9D5B-5A266C11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These are the explicit operating metrics in the source deck, reframed into a cleaner proof slide.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7B761-46F5-47F2-921C-A859052E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514C6-0383-451D-878F-807811AF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+73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3626-11BF-4F55-B14F-1E5DFA3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active countries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E1C96-1748-47F0-A5C8-E65747FD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3519A-A117-4A14-8F9A-D1EEF0A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870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FE331-FDD4-46BE-9A1F-7B819C8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24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monthly campaigns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A5568-0006-4992-9954-6C44A831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A2F59-69CE-4088-92F5-7CB4EF8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70K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EE3D9-0E3A-4B32-B9C8-96C5D73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24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monthly hot leads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CCBEB-CC71-4F3F-8BFE-EC4A8A95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989C43-7624-41F7-A759-7B725385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10M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7B1B8-825D-4BD2-8824-00687DD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manual turnover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39D4C-B2EC-4080-88DC-C62100C2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4574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DA030-A524-4B3F-B710-9ECCA93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289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2014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2152B-D908-442D-BCEA-F5D12B17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24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agency record begins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EA873-2D0E-4464-B15A-5ED81435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5810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A"/>
          </a:solidFill>
          <a:ln xmlns:a="http://schemas.openxmlformats.org/drawingml/2006/main" w="9525">
            <a:solidFill>
              <a:srgbClr val="2943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1F837-9248-426F-9F79-6E1136A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What these numbers signal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6E108F-D537-4817-8B02-AE2570DB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504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pitch is stronger when the audience sees repeatable throughput, not just service descriptions. This slide anchors the agency as an operator with process volume, not a boutique that improvises each campaign.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7BA88-B30F-4161-A4D8-3737ED33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10050"/>
            <a:ext cx="6572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40"/>
          </a:solidFill>
          <a:ln xmlns:a="http://schemas.openxmlformats.org/drawingml/2006/main" w="9525">
            <a:solidFill>
              <a:srgbClr val="2943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F92CE-804E-4766-8BC3-24F5199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76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D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D7FF"/>
                </a:solidFill>
                <a:latin typeface="Aptos"/>
                <a:ea typeface="Aptos"/>
                <a:cs typeface="Aptos"/>
              </a:rPr>
              <a:t>Source wording condensed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4E711-B16F-401F-A22A-9F7E59E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53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7B61B3-2011-4A44-990D-0466D83E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577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Hundreds of multichannel campaigns activated since 2014.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A3C57E-E2C7-45C1-9E70-DD2F1D04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95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9E1C09-4AC7-4780-97D6-C85FFD3F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006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Client base spans multinationals and SMEs.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88F504-C3F3-4D28-B337-B99990D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38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522858-FFD6-47D9-BE26-C701DFB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435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Campaigns launched across multiple sectors and geographies.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7EACD0-42E1-49D5-97F9-3C11B76B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84CE3F-5E76-4A66-AEEB-75CA9601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864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Investment managed over several million euros according to the source deck.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8C6F4-5337-4D39-8299-E6B8ECFB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777C85-E1A6-4A2C-961B-454DB24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1068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13D15-5B48-47FC-9FC0-D6E3895A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319DF-904C-4F24-AF49-11E454E9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92AD0-F338-49AC-BCB4-315A739A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08AC-427C-4D16-82D7-F8A14350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F3A90-347D-4796-A905-F9BAD7E1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2AF78-016F-4609-9CB9-CC3CF79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A92DE-D8C1-4228-AA0C-FAA1E3E5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57731-926F-4BA7-A12F-ABE7ACF2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2F158-952A-4049-A915-67029C05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08A7F-A517-4E40-8C8D-4CD83FB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C7CE7-DC14-4165-A3CF-95B39E7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INTERNATIONAL FOOTPRINT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12D6F-E15B-4B0B-81A5-5539DF0A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source deck repeatedly leans on global execution. This slide turns that into a market-expansion proof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DB7F4-93F5-4A95-89DA-2C0E754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Adstrategy states active campaigns in 30+ countries and more than 10,000 leads per month for telematics clients across multiple markets.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49773-C57F-4EFE-9871-37A5BFB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8001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8">
              <a:alpha val="90980"/>
            </a:srgbClr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C22A8-D894-4436-8C8A-31094FD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Core geographic proof from the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F0348-73C4-4CEE-9DAB-A8DA240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EE91B-E7F5-4A05-943E-14ACC70E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USA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33B7C-6A9C-4AC8-A03F-FA9CFB28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2-4 vehicles, 5-20 vehicles and enterprise-sized fleets were called out as target audience bands.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44A7B-85AD-4C55-88BF-CA83FEE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4FD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41BB1-1ED7-40D9-AC12-1F7CD149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575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UK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06501-EEAB-42E6-9BEB-477EB7D8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433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Telematics campaigns segmented by company fleet size with large-fleet focus in-market.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A590D-1654-4305-A815-7F7BDEE9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6CA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56A11-8FC0-47F0-9BA6-DAC6F19F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CA7FF"/>
                </a:solidFill>
                <a:latin typeface="Aptos Display"/>
                <a:ea typeface="Aptos Display"/>
                <a:cs typeface="Aptos Display"/>
              </a:rPr>
              <a:t>Spain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55F14-6084-48D8-BAB3-3E305D70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Explicit telematics proof and long-running client delivery mentioned in the original deck.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19AE3-BB12-4ED1-8684-1B87266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5CB49-FD4B-4904-9339-98A7147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7A59"/>
                </a:solidFill>
                <a:latin typeface="Aptos Display"/>
                <a:ea typeface="Aptos Display"/>
                <a:cs typeface="Aptos Display"/>
              </a:rPr>
              <a:t>Italy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6540E-43FC-460C-BD4E-C88EF49E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435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Fuel and telematics appear repeatedly as mature operating verticals in the proposal.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119B25-F4EE-4DB3-ABE3-059DDFCC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244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FDF70-D920-4468-82AB-05D1ECA0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Netherlands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A6ADA-BED2-4773-AD09-78E6FB4C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Referenced for telematics delivery and Ruptela case evidence.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6F210A-368D-4F33-AC25-C615682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42481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34610-2C91-4050-8432-5A99ECD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D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D7FF"/>
                </a:solidFill>
                <a:latin typeface="Aptos"/>
                <a:ea typeface="Aptos"/>
                <a:cs typeface="Aptos"/>
              </a:rPr>
              <a:t>Vertical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05603-6AE6-4636-9709-8771A98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0A4D2-2AC7-40E2-90E5-5A10DC1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0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Telematics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71C9C-263A-4B20-B480-AB98117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124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00902E-CB05-4D28-A0BD-F4E49FA9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004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Fuel cards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0CDC86-CE50-4863-861A-A76158B4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1242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C474A6-1D6B-4C96-8A13-294AF75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2004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Benefits cards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0594A6-B7D7-4FD4-9381-298BEE5B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623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28FAE8-AE62-4774-9EC9-526E304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Travel cards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7C61C8-976D-417B-974C-801DFA8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623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BCED8C-3845-4C9F-BFB9-69AD541A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638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Car leasing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A31AD1-963F-4E4F-A75E-7090547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562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721B99-4943-4622-9B72-B8109098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385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Corporate credit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09A629-FF81-43D4-8211-8712BC6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FCF421-5273-426D-B2CA-59AF1BC6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76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ERP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1EDDE2-25C0-495E-A3E1-69B5175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05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C8D7ED-6D99-4E1B-98AA-5C1838B5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767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Insurance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6C2C0F-27E2-4A14-BD2F-60BF474E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0005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870C6C-4B62-42F3-99FB-C9473F4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0767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Health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750BD2-233B-466A-8C9A-0F992FB0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0005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F58418-AC4B-4068-9CAD-13534ACD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767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Energy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8DBF7F-D286-4307-A11F-AAF1F88C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38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DFF954-C35E-46B5-A92D-BA62635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14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Office lease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4BD6EF-A791-4CD3-B0EA-F2228A9E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38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2B17BD-8786-427A-B11E-0BCB8F0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148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Printer renting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88A94D-0CC6-40C3-B6D0-4E97D0A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438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532079-8AA0-4434-B47A-1782D04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5148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8E3C50-8C04-4ADE-9B1E-375E16A8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commercial implication: the agency is not learning B2B demand generation from scratch on your account. It is porting an operating system across geographies and adjacent verticals.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915089-B2E0-41FE-A8BC-7027ADD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3D6BC4-B6FA-4AE9-AF17-6D29E87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58322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6934D-DAB4-4F90-B0CD-05364FF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738A2-A59E-4CA9-B044-4EB4338B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477BC-EC2B-4B89-A31E-82163836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7C217-AFA9-44D8-9A71-B805C83C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711E3-CA69-49CF-8E0C-C687885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3F01C-F4A5-4A33-935B-DA1286F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B6042-8424-4332-9B22-E4D5D80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2271D-6FC0-409E-9167-797F67BB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1782D-D171-4B04-AE47-4F937B1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67EA6-FE40-442D-ABAC-B847A7EF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F4E66-5872-4CBA-A6D1-FD44ECD5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CLIENT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4E2D1-023E-4DBC-BC9A-FA57BEFD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original presentation contains the strongest credibility assets here: attributed outcomes and a testimonial.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75B62-8297-4D47-BF2A-C6470192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This is the slide a prospect remembers if the call is going well.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B579B-7FB8-41C7-B720-7FCFB70C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143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F35E1-FD23-4037-A39F-37F419FE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476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"Thanks to the professionalism and availability of the entire Adstrategy team, we have consolidated a solid partner for lead generation and business... one of the channels with the best ROI in our business."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099F4-5F06-459E-919A-DA866D5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6FF45"/>
                </a:solidFill>
                <a:latin typeface="Aptos"/>
                <a:ea typeface="Aptos"/>
                <a:cs typeface="Aptos"/>
              </a:rPr>
              <a:t>Verizon testimonial quoted in the source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09C21-E4C2-44C5-B09A-AECFAA3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The wording in the source emphasizes professionalism, adaptability, commitment to results and ROI quality.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67CB2-F364-4042-8812-C09361F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5AE4C-8CF0-44B7-AAA3-C66B691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Verizon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5C94C-DCAC-46C1-BC1E-755AA75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500 leads/month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A8BCB-C3FC-477E-BE60-F054B93E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Working relationship of more than 7 years in Spain, plus Portugal and Italy with roughly 150 leads on average.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3724F-03CE-4D75-89B5-0162D8F5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4FD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76529-64EF-4819-A474-1599782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Wex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EA4A2-BA89-435F-8948-7618BD8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624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1300 leads/month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41974-48B5-4189-ABE5-633ECA3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Total volume cited across Italy, Germany, France, UK, Belgium and the Netherlands.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31E93-9665-40C5-886C-4D38A3C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6CA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356A8-C779-4242-9C14-7CFF9C0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14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CA7FF"/>
                </a:solidFill>
                <a:latin typeface="Aptos Display"/>
                <a:ea typeface="Aptos Display"/>
                <a:cs typeface="Aptos Display"/>
              </a:rPr>
              <a:t>Ruptela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62910-91F4-49F8-A389-E67A369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530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100 leads/month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87F610-71B3-45C1-B104-55B0B4F6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5785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Delivery reference in the Netherlands from the source deck's B2B telematics proof section.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CF5ED-660D-4559-AFBF-7D0EAEFF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5DA03-5BB9-45AD-A97F-2094B96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45455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64EA1-5A08-4962-AFEC-21DB989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3AFE8-885F-443C-8F49-E2E4781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ED344-EDBF-498B-9ABF-D48EC314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FA8C1-6BE9-4111-8367-704A74BA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DD0FC-4DEE-4144-A8B1-712CFD9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648CB-CFC3-4DFC-B5D6-54B7C861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6D868-F0D9-4910-AE81-99849AA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5E1BC-1DB3-4D20-B0B6-28A3EBFC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6316F-AC9E-4F02-A840-2DE3DB64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B9B3E-9D56-4792-AE2C-D8823359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E3766-9FC0-49D5-9C61-4378576F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LEAD GENERATION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DF346-BB44-42AC-9527-D3FC5D8F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agency is most convincing when the process reads like an engineered funnel, not a bundle of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73D07-B4D2-4542-A816-48BF81C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The source deck already has the right ingredients: paid media, landing pages, lead delivery, dashboards and continuous optimization.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67726-98B2-4F5F-B114-FFB9695A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266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94F7C-197D-462B-B69F-11A2404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35772-70E2-4F4F-8763-7EB580A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Paid media activation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AF0E3-7A45-4F83-B904-E78FC5D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885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Meta, Google Search, Google Discovery and Native are explicitly named in the source deck.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18773-BE28-4EF4-A846-AF98F30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529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EF04B-AB5C-46C2-8FC8-30D12DEE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5EB54-8E1F-4287-8AE2-BD566EC4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266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5855B-494B-4BC4-AE35-D403344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1F7D0-EB23-479D-B484-8EBF37E6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Dedicated landing 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6B30A7-78AC-4822-8F2B-F83ED0EA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14800"/>
            <a:ext cx="1885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Custom flows, exclusive pages and A/B testing are part of the operating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FBC39-253B-4775-97F1-0180610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0B0B7-E5EF-4269-B3D4-A37F837A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40530-EAF6-4D00-82C0-B65E7246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66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C4DA3-AC1A-4537-ABAB-0FE52F3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AD93E-EC15-4275-9640-E0C02AA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Front-end filtering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06CA1-8F47-4E99-BE7E-CC94402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1885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Form design and field validation are positioned as first-line quality control.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3A91C-FA63-47B8-8A5B-F90A773D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529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3F198-D240-4D13-A868-DEF0C820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D0A3D-16FA-4446-A86A-71807173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266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42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0C3C70-9A3A-4B1B-A392-C545CB01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8144D-7C0A-48B4-B95A-BCBA10E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CRM delivery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0BA915-8BF0-472B-A9D2-EC8F9AC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1885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Leads are integrated into the client's CRM or made available in the agency back office.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54962A-BF6E-49B9-9280-6B2781CC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529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03A4C-9B70-4ED1-B750-59EC68C4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0957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7F"/>
          </a:solidFill>
          <a:ln xmlns:a="http://schemas.openxmlformats.org/drawingml/2006/main" w="0">
            <a:solidFill>
              <a:srgbClr val="37567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24891-FE07-4FD6-A802-03F428D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86050"/>
            <a:ext cx="2266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2BF1AC-1A1C-4D79-B7FB-3C1C7D8D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895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3B4C59-1102-4ABA-8982-CE9A33C6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Optimization loop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6614CE-8704-49D1-BA59-E667CFDF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114800"/>
            <a:ext cx="1885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Campaign managers review KPI quality, update creatives and refine audience targeting.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03268D-1BB0-4BFF-A2BC-3FE5868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1162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Claim: Adstrategy is not just buying traffic. It is controlling the conversion environment, the validation layer and the commercial handoff.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7FB25F-7461-480F-B995-108A206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7F03D6-3899-48FE-B12B-A295047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97131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30217-608C-41E3-948A-4BE52A03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25B7A-EB59-4452-814E-388DFDD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35F94-41E8-4F38-8122-167FBDD5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3D578-CD57-467B-BFDE-43BF126A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FF8B7-FFB9-4509-80E3-D946EAB6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57CF5-44DF-4893-B27C-B4B54DEC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ACB3-8F35-4B07-9D96-F457623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2706A-37C2-49D3-97FD-DD6FA0B5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C48CC-4DA9-4BD4-822A-C218576D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CFFA7-A3FF-40DF-9347-919CA813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F76C4-ACA5-438D-9135-FCD03B7C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QUALIFICATION FUNNEL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1D2B4-F3AB-4E43-AC0D-E0EDF86F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Quality control is one of the clearest reasons a performance agency can justify trust early.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5FE30-58F3-44E2-B5AB-B91DE572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The source deck states a historical validation rate around 85% and spells out the progression from gross leads to MQL and closed deals.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6F04B-DA1D-4CE6-91E8-5170D1B9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600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F"/>
          </a:solidFill>
          <a:ln xmlns:a="http://schemas.openxmlformats.org/drawingml/2006/main" w="9525">
            <a:solidFill>
              <a:srgbClr val="17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C3EE6-F963-4CB4-B425-5983FAE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LEAD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C6B91-012F-4217-97AA-8C89DA24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Gross leads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2E368-B279-4336-972A-ABB2807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5623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164"/>
          </a:solidFill>
          <a:ln xmlns:a="http://schemas.openxmlformats.org/drawingml/2006/main" w="9525">
            <a:solidFill>
              <a:srgbClr val="1B41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4AEC2-33FC-4AAC-B277-2DDC1C6B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95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7FEA0-4811-4D7C-92B7-3BB555F9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48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Net leads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8EECC-D36E-47A7-A6A2-D7D2923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577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278"/>
          </a:solidFill>
          <a:ln xmlns:a="http://schemas.openxmlformats.org/drawingml/2006/main" w="9525">
            <a:solidFill>
              <a:srgbClr val="2052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F4360-03AB-410F-BED2-E4DD7F30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A8F1D-5850-484A-AE02-8D8C995B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4B4C8-1803-4B04-A545-D23E8979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530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97"/>
          </a:solidFill>
          <a:ln xmlns:a="http://schemas.openxmlformats.org/drawingml/2006/main" w="9525">
            <a:solidFill>
              <a:srgbClr val="2A6A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72765F-F5CD-4D73-8182-A4D218AC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864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7FF9D-FED4-4911-BA6F-95FF5F7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38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Closed deals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C6BCF-1BDE-4AD3-9AA9-1E97AE1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55626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39632-6686-47C5-824F-30B440F7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D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D7FF"/>
                </a:solidFill>
                <a:latin typeface="Aptos"/>
                <a:ea typeface="Aptos"/>
                <a:cs typeface="Aptos"/>
              </a:rPr>
              <a:t>Typical filters called out in the 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BC9E7-1AAA-418C-BA48-8FCCEE0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106F1-D84E-4971-BC08-238CA4D1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Test leads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CC1A8-6FE1-4730-9B90-B744AC49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F6F33-B09A-4820-A506-EB7EA65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Duplicated leads from the last 60 days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5C270D-7EBF-413C-9BB3-E0DDC5F0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C3C52-A153-4634-93C3-E7A727A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Private leads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11F813-181F-4C7F-9BDD-75E48CB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34E8CD-597F-429C-B458-6811ABF4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339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Incorrect contact details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AC2A3D-D562-4CA4-ABDE-E377655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00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433E9-D5A6-4895-8E0E-0B3057E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339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Outside target GEO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861C3-3B2A-403C-945F-D4C9242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340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F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D5837B-EDC5-4E09-8CC2-18E37763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~85% historical validation rate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E001A-8230-4489-8B7B-BEA8F63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8861D-64CF-48A4-AF09-D018DBB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66095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27583-D6AD-4E9A-97A1-E806B8A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937B0-99AF-444D-832F-A662ECF0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D1E06-5332-4E3D-AD2C-2AD70842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D8240-88FB-405C-891F-1D4C1630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69A89-C57F-46C4-AA8C-3CEBA728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524B9-962F-4321-AB44-1E7DC4D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F2847-D60E-4EF0-A687-65D46F2F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6D4A4-0E9E-45C5-ACF3-49795FBE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69BE7-6F65-41BD-B122-1CD6CEA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152D9-ECEE-4562-B6AA-C66AD60C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0BBB-0337-4CED-801F-ABF097E0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VALUE PROPOSITION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39BB7-0FCB-4B06-A3B6-6405C83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original deck already says the right things. This slide packages them into a compact, high-trust proposition.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4D821-CC79-47C2-A613-B248D903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Each block corresponds to a recurring claim in the source presentation.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DD5B5-EE27-446D-B86C-F3C38B9C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b485c92b3414a">
            <a:extLst>
              <a:ext uri="{96DAC541-7B7A-43D3-8B79-37D633B846F1}">
                <asvg:svgBlip xmlns:asvg="http://schemas.microsoft.com/office/drawing/2016/SVG/main" r:embed="R1c585673b8a54d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2781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6D7B1-EF9A-4DFE-97B6-1166A313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CPL-based economics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96DE1-FB4D-47D2-A32A-B9AFFF3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Lead price is adjusted by audience size and launch country rather than hidden inside broad retainers.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44494-71F3-485D-AE0F-D20DC61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6866008224982">
            <a:extLst>
              <a:ext uri="{96DAC541-7B7A-43D3-8B79-37D633B846F1}">
                <asvg:svgBlip xmlns:asvg="http://schemas.microsoft.com/office/drawing/2016/SVG/main" r:embed="Reda372d10b0b44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67150" y="2781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38347-5779-49E5-83D6-C90C0A5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432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 lead sharing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E8AE9-7450-4CB8-B034-CFD4D03B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Campaigns are segmented for each client and the source explicitly states exclusivity.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E7969-FB03-4CC2-940E-5FC561B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4b4cebf9842f0">
            <a:extLst>
              <a:ext uri="{96DAC541-7B7A-43D3-8B79-37D633B846F1}">
                <asvg:svgBlip xmlns:asvg="http://schemas.microsoft.com/office/drawing/2016/SVG/main" r:embed="Rc77b4c14e91647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48450" y="2781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C84D5-615F-4139-812F-86849D1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Exclusive landing pages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BCE9D-60D0-43D3-992E-119A90D5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Each campaign can run on dedicated pages built around the client message and conversion path.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6BF1B0-8CCE-4B0F-8112-94C5629F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985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72c613f61428d">
            <a:extLst>
              <a:ext uri="{96DAC541-7B7A-43D3-8B79-37D633B846F1}">
                <asvg:svgBlip xmlns:asvg="http://schemas.microsoft.com/office/drawing/2016/SVG/main" r:embed="R3c176b69035b4b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0" y="2781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B060D-5FFF-49A4-9585-413CC10B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432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CRM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28A19-A90D-4F0B-9EFE-E9D57710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Leads can be exported or integrated directly into the customer's CRM platform.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5FEBE-0CAE-4176-9451-8B8CE39F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9580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83be8b0194ea3">
            <a:extLst>
              <a:ext uri="{96DAC541-7B7A-43D3-8B79-37D633B846F1}">
                <asvg:svgBlip xmlns:asvg="http://schemas.microsoft.com/office/drawing/2016/SVG/main" r:embed="Red50240d800541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4667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B330CA-B9D3-4D95-9D69-FCDE6BC8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29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Low trash objective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C56E76-C6C5-4F3A-87AF-A38242A8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9110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Traffic quality, filters and front-end validation are all framed as ways to reduce waste.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7BE6C-A5D9-48AD-BCB0-249DF60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9580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b54a8789e4d6c">
            <a:extLst>
              <a:ext uri="{96DAC541-7B7A-43D3-8B79-37D633B846F1}">
                <asvg:svgBlip xmlns:asvg="http://schemas.microsoft.com/office/drawing/2016/SVG/main" r:embed="R369e52a721ab48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0" y="4667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6A788-6E8C-403B-A215-6B3591B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29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Continuous optimization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FE45F7-B308-44FA-B8D8-BAF20A35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9110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Campaign managers, reports and regular review cycles are included in the offer.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CFF1AB-6EC5-4C77-9BCB-F11B7AFE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B">
              <a:alpha val="80000"/>
            </a:srgbClr>
          </a:solidFill>
          <a:ln xmlns:a="http://schemas.openxmlformats.org/drawingml/2006/main" w="9525">
            <a:solidFill>
              <a:srgbClr val="2A3C5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b292de1e24710">
            <a:extLst>
              <a:ext uri="{96DAC541-7B7A-43D3-8B79-37D633B846F1}">
                <asvg:svgBlip xmlns:asvg="http://schemas.microsoft.com/office/drawing/2016/SVG/main" r:embed="R317cb62f9c9741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39100" y="4667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191F14-7F66-4518-8206-CC67B91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Creative control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80DBA8-FFA8-4CA0-87EB-B89DF9C0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9110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Creative materials, A/B testing and frequent refreshes are built into the workflow.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89A956-5741-42B3-A862-1C32C122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4D85E6-644E-4CF7-8BEE-B5A1E75F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53866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1A114-ADED-4CFA-A263-CB763A1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8A1A0-8E9F-4954-A948-5500A9A9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CC742-4AB0-441C-9509-F62884C7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3884C-6C44-463F-AA9F-8C0D02D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453DD-8C24-47FA-B7A1-EC1DC192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7F5D4-718C-4E4B-9AEB-5F1C0BA6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E7220-5653-4A0F-8685-99A11DCC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A300F-9ACD-4850-A2D5-531BA999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BA0D3-554C-491D-B835-152F2AD9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72FF2-4ED4-455E-B427-52E31A29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B9012-D5CD-4A10-9830-89E6E89A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CHANNEL AND CREATIVE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FFC94-93E0-4320-8FFD-1EA44643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source deck points to a practical launch mix: social, search, discovery, native and continuous testing.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98B12-8633-4D86-BB6D-20E9F79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That is enough to position a modern demand generation engine without over-claiming media sophistication.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EE898-809A-48CA-9F85-AA69E40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5339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81A73-A20D-4551-9330-1BF4FB46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Launch 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84D47-2696-4E08-8A3B-B0125EB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5AA6B-FF27-40ED-A4CB-C667E11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Audience capture and paid social 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3F623-5B84-47AD-B2FE-60ECE96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Google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C1816-BFE4-4236-8048-75D4EF9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Bottom-funnel intent 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B74A9-A947-43F2-B18B-90C3EAC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Google Discovery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668E5-E619-4540-B7A2-4E6F50F6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Additional scale and demand shaping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0EAAF-2FE6-4336-AB93-4DEA5335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Native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17FC8-6906-4C84-82C2-C7429D8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Incremental reach through broader content environments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CC5E5-8EB5-4520-83DD-4AC50A3B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77343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93E33-A5F7-4D73-A698-39516D25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1466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73027-348A-4AE1-AF70-1360FE8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Creative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10DA1-A946-42C0-819A-478DC18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Banners and social ads are refreshed regularly.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5CE36-495E-4C23-9034-DB017D81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B9C"/>
          </a:solidFill>
          <a:ln xmlns:a="http://schemas.openxmlformats.org/drawingml/2006/main" w="0">
            <a:solidFill>
              <a:srgbClr val="476B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60CD3-2C53-4A4C-A656-C8CAEB35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81350"/>
            <a:ext cx="1466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DFE7E3-76A5-42A3-B6F0-77DA7E2C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Traffic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C0236-A755-42F6-B059-A666F967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Media mix is reviewed as performance data accumulates.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632A1-E6B8-44C7-8F24-3A5C1EDD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48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B9C"/>
          </a:solidFill>
          <a:ln xmlns:a="http://schemas.openxmlformats.org/drawingml/2006/main" w="0">
            <a:solidFill>
              <a:srgbClr val="476B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30559C-AFA0-4132-A52C-E0E1FEA8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81350"/>
            <a:ext cx="1466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280B8D-DD6B-42BD-B9A3-598F66F7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909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LP testing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8F74B4-3429-49B7-A3DB-18E9B5C0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624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Headers, flows and designs are A/B tested.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116FFA-68EB-4CB4-AAE9-AAB46FA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48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B9C"/>
          </a:solidFill>
          <a:ln xmlns:a="http://schemas.openxmlformats.org/drawingml/2006/main" w="0">
            <a:solidFill>
              <a:srgbClr val="476B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B4C87-5B66-4841-A0B9-A6557F38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181350"/>
            <a:ext cx="1466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E"/>
          </a:solidFill>
          <a:ln xmlns:a="http://schemas.openxmlformats.org/drawingml/2006/main" w="9525">
            <a:solidFill>
              <a:srgbClr val="3151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DA68BA-E8CC-46FC-905D-0DC74E35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909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Quality feedback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C0176-9949-4DC2-809A-5A8292B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624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Lead quality feedback reshapes targeting and message.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799BDE-21FD-40E6-B90F-253D5BE7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1266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F"/>
          </a:solidFill>
          <a:ln xmlns:a="http://schemas.openxmlformats.org/drawingml/2006/main" w="9525">
            <a:solidFill>
              <a:srgbClr val="4F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2011A1-3052-427D-8974-CE180C7C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10350"/>
            <a:ext cx="1181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source deck expects the first strong results within 3 months, with periodic plan reviews as more KPI and contact-quality data is collected.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AF493-47D4-4BCF-81B2-AC8E14F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8665D9-730C-475F-860E-AD0996A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31119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0BEC3-C2A7-4D91-A08D-1C92B3EB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54654-E741-4C36-8B11-62C2E65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B3D6D-1B7A-44DF-A045-A4D04DF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0912A-33FA-43E8-B6EA-1DDDDB58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47E70-AD01-4C2A-9A90-4AC7854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FDAA7-401F-4B59-BE42-BFB303B3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E91D6-13D8-4F79-8693-7018891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1A211-8C2A-4168-A976-AB0475B9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79BEB-2435-4734-8E46-22589AEE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02779-6394-437F-AD8C-93A8C4C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EC726-24F1-4FA6-AF89-498D0B24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COMMERCIAL MODEL AND 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815CD-FE89-4AAC-BEE4-D8C3E1DF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Trust also comes from how the engagement is run after the leads start flowing.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BF3B9-244F-4A4A-BDB6-3B676E7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The source deck is explicit on validation, invoicing rhythm and review cadence.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740B2-D177-498A-8A72-6671C7C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37147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353C8-A4E3-4B87-89B4-7A14F3E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Validation + billing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97919-7175-409B-B0E5-97E35E3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BC03F-4F9F-41A6-BFC1-C88C9DC2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Clients send a lead report each month.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FD902-2C9A-43AF-85F5-D45EF7D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5974B-7128-4B6D-A226-7BA1488E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Gross, valid and invalid leads are reconciled.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305A6-0E35-48D8-BD09-AB059E06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42E65-32D4-4369-9BCF-C1FE56AD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Invalid leads are detailed by reason.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9F048-2769-4475-8883-3D7B27A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95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45"/>
          </a:solidFill>
          <a:ln xmlns:a="http://schemas.openxmlformats.org/drawingml/2006/main" w="0">
            <a:solidFill>
              <a:srgbClr val="D6FF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0A442-1C0D-4E4D-91C8-1D12D50B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292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Invoice is issued after valid lead confirmation.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27F8D-CEB5-49F7-82DE-CDDDE93E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37147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4F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4137A-B397-4A92-9C6C-426D0DB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622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Commercial terms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1FAFE-1CAD-4F5B-BC9C-BB44DE3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9AFDA-6F9C-444D-87FF-92632B20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576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New clients are usually proposed a prepayment model for the first 3 months.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E182C-5F7F-434B-AA50-30DCFA8E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92B63-B228-46AD-A3F8-29357C8F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481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the initial phase, the source deck points to NET30.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E08CD-9322-4B72-8889-C88DAA67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DC6CD-AC8C-47F1-8B46-B87DDE3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387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CPL is redefined by audience size and geography.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176C96-0231-4150-87C0-F5282FA0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95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7FF"/>
          </a:solidFill>
          <a:ln xmlns:a="http://schemas.openxmlformats.org/drawingml/2006/main" w="0">
            <a:solidFill>
              <a:srgbClr val="4F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30205-CF33-4662-A6CF-256E3652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292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Legal VAT is added to quoted prices.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5F8EA5-8470-4F0F-90A7-B6538749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37147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6CA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7BA0B4-BEBC-432A-A2ED-58DE30D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622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Operating cadence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9A2F2F-ED86-4EEF-817C-F0692CAB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A7FF"/>
          </a:solidFill>
          <a:ln xmlns:a="http://schemas.openxmlformats.org/drawingml/2006/main" w="0">
            <a:solidFill>
              <a:srgbClr val="6CA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E133FF-89C3-4104-BCAB-FBF1FD8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576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Campaign KPI meetings typically happen every 2 weeks.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F9C28-FBFD-4CBA-8E09-E10D46B1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A7FF"/>
          </a:solidFill>
          <a:ln xmlns:a="http://schemas.openxmlformats.org/drawingml/2006/main" w="0">
            <a:solidFill>
              <a:srgbClr val="6CA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A565FC-D9C6-4979-8C6F-AC40D466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481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stated purpose is to review goals, strategy and the action plan.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49DFCD-1FB1-40B0-A2A0-4CF9D68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A7FF"/>
          </a:solidFill>
          <a:ln xmlns:a="http://schemas.openxmlformats.org/drawingml/2006/main" w="0">
            <a:solidFill>
              <a:srgbClr val="6CA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3D70B3-B487-48DA-96BB-0FFB08C6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387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Campaign managers continuously optimize the account.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B4515A-EE30-46B5-A386-75DB45C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95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A7FF"/>
          </a:solidFill>
          <a:ln xmlns:a="http://schemas.openxmlformats.org/drawingml/2006/main" w="0">
            <a:solidFill>
              <a:srgbClr val="6CA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8F5DCC-5755-4607-AFF6-BE7DA004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292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Real-time CRM delivery is preferred to accelerate sales follow-up.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66529D-8D74-4FA4-97D1-73A071E7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93C311-07BE-4269-94E9-25977AF6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95646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73C25-A485-42B3-9998-84FD645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1F"/>
          </a:solidFill>
          <a:ln xmlns:a="http://schemas.openxmlformats.org/drawingml/2006/main" w="0">
            <a:solidFill>
              <a:srgbClr val="09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5AA7F-6088-407B-AAF7-DCF644A4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C"/>
          </a:solidFill>
          <a:ln xmlns:a="http://schemas.openxmlformats.org/drawingml/2006/main" w="0">
            <a:solidFill>
              <a:srgbClr val="0F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F0EE-5FAF-40B6-8A83-8F1E8EAC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-285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A">
              <a:alpha val="33333"/>
            </a:srgbClr>
          </a:solidFill>
          <a:ln xmlns:a="http://schemas.openxmlformats.org/drawingml/2006/main" w="0">
            <a:solidFill>
              <a:srgbClr val="17325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1B41F-79F5-4B98-9395-1AC618CB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03A">
              <a:alpha val="53333"/>
            </a:srgbClr>
          </a:solidFill>
          <a:ln xmlns:a="http://schemas.openxmlformats.org/drawingml/2006/main" w="0">
            <a:solidFill>
              <a:srgbClr val="0E203A">
                <a:alpha val="5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E4108-2285-4326-84FC-C91B1FD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BF079-FEE3-4374-B2A8-042B294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8A1CE-F261-4256-8065-7F355B3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8BE36-FC5E-42BB-8C86-412B5F2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A9DF2-B270-4D44-996A-DE74ECA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54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E55CA-7E76-467F-8DAF-2E08B49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75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7"/>
          </a:solidFill>
          <a:ln xmlns:a="http://schemas.openxmlformats.org/drawingml/2006/main" w="0">
            <a:solidFill>
              <a:srgbClr val="2237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F9BCC-84D1-4350-B5DB-E10E393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27344-EEFC-4DFE-B125-408AC99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Why this story works in a first prospect 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78C87-AC7E-4AD2-9F78-A843D1D6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B0C8"/>
                </a:solidFill>
                <a:latin typeface="Aptos"/>
                <a:ea typeface="Aptos"/>
                <a:cs typeface="Aptos"/>
              </a:rPr>
              <a:t>It combines proof, process, geographic range and commercial discipline without hiding behind generic agency language.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38479-1FBA-4C77-A5D4-51876B9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810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2B4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9C90B-2BBA-4B90-BFF8-D3AEC775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F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FF45"/>
                </a:solidFill>
                <a:latin typeface="Aptos"/>
                <a:ea typeface="Aptos"/>
                <a:cs typeface="Aptos"/>
              </a:rPr>
              <a:t>Adstrategy should come across as the partner that can: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FE01A-F7F6-416E-A5E3-AA910F08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13565-5B2A-4775-A7CB-A474B15A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Generate exclusive B2B demand with controlled qualification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6FC65-D4B6-4596-AA07-B879093A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F8038-E9BB-4F7A-8B22-375B0FD3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Launch and optimize campaigns across multiple countries and adjacent verticals.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1B51F-F686-460A-863B-FB4E5079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FD7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4B7EF-C469-4D55-A4C3-B99FCE38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Integrate with the prospect's CRM and commercial workflow in real 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91CC7-F86E-4785-96C1-FC61E9C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FF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4C44C-82AE-4B0F-B370-95ECE9D7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Operate with billing clarity, reporting cadence and lead validation discipline.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7B375-5BE7-4EDE-A1A5-5E980D3A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44196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F"/>
          </a:solidFill>
          <a:ln xmlns:a="http://schemas.openxmlformats.org/drawingml/2006/main" w="9525">
            <a:solidFill>
              <a:srgbClr val="D6FF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D5C78-53CD-42CD-889A-F6085C9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Suggested next-step framing in the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E4FF0-D2F4-44DB-97F1-3D4597D1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52850"/>
            <a:ext cx="3390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Validate target markets, ICP filters, CRM handoff requirements and acceptable lead invalidation logic. Then scope a test launch with channel priority and reporting cadence aligned upfront.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E209D-704F-41E1-BD26-5778E918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38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3456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CA1C2-3AFC-4040-8F94-0686ACE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14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Performance-first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A3804-537A-4F40-99A1-5220348A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387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34567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BEC2D8-25CD-4D16-A810-6325365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14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B2B operators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29E229-ED96-4695-8DF0-69B5289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57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34567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149F7-6724-4283-A638-7214B4ED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340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Cross-market know-how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C83E10-583B-4977-B1E7-FE0F26A6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24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Adstrategy | B2B Performance Lead Generation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AB3D0-A308-44D1-B2E9-5866B93F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134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90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C90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8505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2026-05-27T15:17:46.2900000Z</dcterms:created>
  <dcterms:modified xsi:type="dcterms:W3CDTF">2026-05-27T15:17:46.2900000Z</dcterms:modified>
</coreProperties>
</file>